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48" r:id="rId2"/>
  </p:sldMasterIdLst>
  <p:notesMasterIdLst>
    <p:notesMasterId r:id="rId5"/>
  </p:notesMasterIdLst>
  <p:sldIdLst>
    <p:sldId id="258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58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683DD4-A1B8-4C6A-88F5-2A8ED6508784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DAC7A-F20D-49C8-A8BA-54352F970F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40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0311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9A901D-0AA8-3A36-7C0B-DD70B950DC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032CA3-821E-A9B9-6E39-E321CBEEE7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EDA7CA-854B-BDCD-4F30-A53108EA6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B77AA9-156C-7841-F310-27794644D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277D5E-231E-83F0-ECDE-FB9BC2B8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6963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2057E2-68F8-2FA2-A720-2889E9ED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63BBAA-A01A-DB1A-09FC-14FEA7AD1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015BE1-5EC2-8EFD-13E7-8609FE3FC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29BAD9-6ACD-EF8B-3FCA-A6F66D952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96D0FC7-0447-E9CA-8DD0-DC92B1EA1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665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5776A-4DD7-4EEF-D308-065C3B0EB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E2EBA4-5D25-1928-F795-2870B16ED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08E737-D6B9-EA52-C9E9-384EBA64F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851980-AAC0-7BFB-909A-A7D8AFF01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C0F34E-E914-4CAC-945A-633FEB83C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1246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1C4F0F-BB60-390A-679E-12EB4760F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97271C-D2AB-07E1-A0D7-DA559B319E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54E8F7-DECD-9A71-EF22-1586B3A837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4D403E-3304-A14D-7EA8-CA60E59AC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2CA4D3-048D-E469-EEA8-343E5DA3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52D71D-7903-48F2-A7CB-ED63DC91E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709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89C429-4A1B-C752-E054-9A726DCF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5D9B5A-118A-1F8D-9B03-053D5DE9D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F72D0E1-D446-F6E5-0495-4D01831E1D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6B979E6-767F-6D1E-710A-6F4847C847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D228DD3-B60A-CA6F-A176-6F5CD0AB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4AFE399-2A6C-E535-5D88-8350B2BE7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C9AC9A3-CC97-9373-5C4A-BFEF7AD5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E3A9C26-E7E0-DB0E-9DD5-CF1701279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0107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EAC705-5E6F-AD79-6BBA-10E6DF084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053E675-D509-AAA7-22F8-987061842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AA607D5-E746-5B3E-AFED-5F7D608E8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763B6F-9857-030F-1127-31A717ABD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0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B944460-262A-B80D-7ADE-A492705A6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06C6FC2-7BF2-5CAF-42B4-904955FA9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DB7B16-95AC-E717-71E7-925676B6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603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8C139E-2AC9-5B7A-5594-50C1FF87B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D658DD-5980-611C-3385-F8D583086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A795053-195F-291C-50A5-F8C6C86B70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2CBE66-DBF4-43F4-1D7D-D6CAD5773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123307B-8AAD-DE7A-6473-BDCF98CE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0BB827-57CC-667F-C026-0DF2FD2EB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3629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507F19-33F3-5982-9695-E7C6C209C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C19E926-0354-6385-4AAE-0D8B6A0F1E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E368B9-AB2B-0F26-D1C4-AE8B7B28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E9E91B-8D23-ADC2-BE64-29DD807E2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D46451-531E-05D1-3A5D-DB7B981F1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74A2E3-7DB7-40A3-0575-111BC3779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0997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9C7547-9322-BA05-0127-C5239F941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3B809B-0FE3-116A-D2B1-E71FFAEF22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70C48F-E568-C5DD-6119-0ADA0529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1C80A7-2B6F-9763-7E9B-AD938D862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F8F832-D7B0-EB45-B034-8B459756D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41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F79BB32-2E8A-27F9-BD9A-7D50EED015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B49EA87-4D53-F96A-ABAF-ED632EA897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EBA6E8-C2E5-AEDE-BA9B-45927EC8C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842A37-3075-9471-7A34-82EC12BCA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6D8EC-AE5E-EACA-D369-21AB2F3F5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97938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57F2260-C44E-8F5E-27CD-CEC4EEDBB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F40C13-0D02-D478-7A34-5C203EFAF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300FCC-8CDA-656E-C835-3CB4853D7E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8ED3B4-B3B1-4C0B-A79A-8746126325DB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B79AFF-F842-CC3B-2264-D98BC56BE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B147B3-994E-9739-DC0A-B59D76A00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DD0ADA-5D86-40CA-A740-8E7F5DD1A1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9622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7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F9F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2437"/>
            <a:ext cx="12191695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D8E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2436" y="123825"/>
            <a:ext cx="12572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本地机器人数字孪生工具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343091" y="142875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9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924" y="142875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9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52756" y="142875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9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457589" y="142875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9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视图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162421" y="142875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9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5888" y="142875"/>
            <a:ext cx="23811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A48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当前项目：UR_示例产线_20240516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953276" y="133350"/>
            <a:ext cx="4847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4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连接状态: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572386" y="190500"/>
            <a:ext cx="85723" cy="85725"/>
          </a:xfrm>
          <a:prstGeom prst="ellipse">
            <a:avLst/>
          </a:prstGeom>
          <a:solidFill>
            <a:srgbClr val="22C2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6208" y="133350"/>
            <a:ext cx="3428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4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已连接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81950" y="133350"/>
            <a:ext cx="4847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4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配置状态: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591535" y="214313"/>
            <a:ext cx="114297" cy="0"/>
          </a:xfrm>
          <a:prstGeom prst="line">
            <a:avLst/>
          </a:prstGeom>
          <a:solidFill>
            <a:srgbClr val="FFFFFF">
              <a:alpha val="0"/>
            </a:srgbClr>
          </a:solidFill>
          <a:ln w="104775">
            <a:solidFill>
              <a:srgbClr val="FF9C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43931" y="133350"/>
            <a:ext cx="3428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8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未加载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1553536" y="142875"/>
            <a:ext cx="85723" cy="857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B8A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53556" y="142875"/>
            <a:ext cx="85723" cy="857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B8A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953576" y="142875"/>
            <a:ext cx="85723" cy="857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B8A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396" y="542925"/>
            <a:ext cx="6362541" cy="58864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2F2"/>
            </a:solidFill>
            <a:prstDash val="solid"/>
          </a:ln>
          <a:effectLst>
            <a:outerShdw blurRad="1984" dist="794" dir="5400000" algn="bl" rotWithShape="0">
              <a:srgbClr val="1F4D88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2891" y="695325"/>
            <a:ext cx="10667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机器人实时仿真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419190" y="776287"/>
            <a:ext cx="114297" cy="0"/>
          </a:xfrm>
          <a:prstGeom prst="line">
            <a:avLst/>
          </a:prstGeom>
          <a:solidFill>
            <a:srgbClr val="FFFFFF">
              <a:alpha val="0"/>
            </a:srgbClr>
          </a:solidFill>
          <a:ln w="104775">
            <a:solidFill>
              <a:srgbClr val="FF9C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81110" y="723900"/>
            <a:ext cx="12572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A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配置未加载，等待初始化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85743" y="1190625"/>
            <a:ext cx="6095848" cy="3905250"/>
          </a:xfrm>
          <a:prstGeom prst="rect">
            <a:avLst/>
          </a:prstGeom>
          <a:solidFill>
            <a:srgbClr val="F8FBFF"/>
          </a:solidFill>
          <a:ln w="9525">
            <a:solidFill>
              <a:srgbClr val="E2EA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1466" y="1343025"/>
            <a:ext cx="323842" cy="18859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992" dist="298" dir="5400000" algn="bl" rotWithShape="0">
              <a:srgbClr val="3B5F95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09565" y="1428750"/>
            <a:ext cx="247644" cy="247650"/>
          </a:xfrm>
          <a:prstGeom prst="roundRect">
            <a:avLst/>
          </a:prstGeom>
          <a:solidFill>
            <a:srgbClr val="3C7D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664" y="1819275"/>
            <a:ext cx="171446" cy="171450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1839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7664" y="2181225"/>
            <a:ext cx="171446" cy="171450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1839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664" y="2543175"/>
            <a:ext cx="171446" cy="171450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1839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7664" y="2905125"/>
            <a:ext cx="171446" cy="171450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1839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19570" y="1333500"/>
            <a:ext cx="1028674" cy="3238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8F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62461" y="1333500"/>
            <a:ext cx="9525" cy="323850"/>
          </a:xfrm>
          <a:prstGeom prst="rect">
            <a:avLst/>
          </a:prstGeom>
          <a:solidFill>
            <a:srgbClr val="E7EE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5352" y="1333500"/>
            <a:ext cx="9525" cy="323850"/>
          </a:xfrm>
          <a:prstGeom prst="rect">
            <a:avLst/>
          </a:prstGeom>
          <a:solidFill>
            <a:srgbClr val="E7EE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24342" y="1438275"/>
            <a:ext cx="123822" cy="123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3829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76758" y="1438275"/>
            <a:ext cx="123822" cy="123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3829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10125" y="1438275"/>
            <a:ext cx="123822" cy="123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73829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52576" y="2076450"/>
            <a:ext cx="3143171" cy="20002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FE7F1"/>
            </a:solidFill>
            <a:prstDash val="solid"/>
          </a:ln>
          <a:effectLst>
            <a:outerShdw blurRad="2977" dist="1389" dir="5400000" algn="bl" rotWithShape="0">
              <a:srgbClr val="20477D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400340" y="2433637"/>
            <a:ext cx="285743" cy="0"/>
          </a:xfrm>
          <a:prstGeom prst="line">
            <a:avLst/>
          </a:prstGeom>
          <a:solidFill>
            <a:srgbClr val="FFFFFF">
              <a:alpha val="0"/>
            </a:srgbClr>
          </a:solidFill>
          <a:ln w="257175">
            <a:solidFill>
              <a:srgbClr val="FF9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66893" y="2686050"/>
            <a:ext cx="25240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4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未找到机器人三维模型与误差参数文件</a:t>
            </a:r>
            <a:endParaRPr lang="en-US" sz="1084" dirty="0"/>
          </a:p>
        </p:txBody>
      </p:sp>
      <p:sp>
        <p:nvSpPr>
          <p:cNvPr id="41" name="Text 39"/>
          <p:cNvSpPr/>
          <p:nvPr/>
        </p:nvSpPr>
        <p:spPr>
          <a:xfrm>
            <a:off x="2266893" y="2981325"/>
            <a:ext cx="2524062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150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当前配置目录中缺少模型文件或误差参数文件。请先加载所需文件以继续初始化。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295468" y="3495675"/>
            <a:ext cx="1181070" cy="295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75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47984" y="3495675"/>
            <a:ext cx="1181070" cy="295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75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468" y="3562350"/>
            <a:ext cx="11810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263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加载三维模型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47984" y="3562350"/>
            <a:ext cx="11810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263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加载参数文件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00300" y="3857625"/>
            <a:ext cx="1066773" cy="2476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FD9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00300" y="3914775"/>
            <a:ext cx="1066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3442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打开默认目录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742931" y="4676775"/>
            <a:ext cx="500677" cy="233475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FF2B2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2931" y="4487826"/>
            <a:ext cx="519120" cy="188949"/>
          </a:xfrm>
          <a:prstGeom prst="lineInv">
            <a:avLst/>
          </a:prstGeom>
          <a:solidFill>
            <a:srgbClr val="FFFFFF">
              <a:alpha val="0"/>
            </a:srgbClr>
          </a:solidFill>
          <a:ln w="19050">
            <a:solidFill>
              <a:srgbClr val="20B74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2931" y="4124325"/>
            <a:ext cx="9525" cy="55245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1D71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257269" y="4819650"/>
            <a:ext cx="800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2B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219170" y="4343400"/>
            <a:ext cx="741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0A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66733" y="3905250"/>
            <a:ext cx="744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71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171646" y="5219700"/>
            <a:ext cx="1790655" cy="10287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8F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057549" y="5219700"/>
            <a:ext cx="2324042" cy="10287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8F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324042" y="5353050"/>
            <a:ext cx="171446" cy="171450"/>
          </a:xfrm>
          <a:prstGeom prst="roundRect">
            <a:avLst/>
          </a:prstGeom>
          <a:solidFill>
            <a:srgbClr val="EAF2FF"/>
          </a:solidFill>
          <a:ln w="9525">
            <a:solidFill>
              <a:srgbClr val="B9D1F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209945" y="5353050"/>
            <a:ext cx="171446" cy="171450"/>
          </a:xfrm>
          <a:prstGeom prst="roundRect">
            <a:avLst/>
          </a:prstGeom>
          <a:solidFill>
            <a:srgbClr val="EAF2FF"/>
          </a:solidFill>
          <a:ln w="9525">
            <a:solidFill>
              <a:srgbClr val="B9D1F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71686" y="5353050"/>
            <a:ext cx="7429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当前精度指标</a:t>
            </a:r>
            <a:endParaRPr lang="en-US" sz="975" dirty="0"/>
          </a:p>
        </p:txBody>
      </p:sp>
      <p:sp>
        <p:nvSpPr>
          <p:cNvPr id="59" name="Text 57"/>
          <p:cNvSpPr/>
          <p:nvPr/>
        </p:nvSpPr>
        <p:spPr>
          <a:xfrm>
            <a:off x="4457589" y="5353050"/>
            <a:ext cx="4952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健康状态</a:t>
            </a:r>
            <a:endParaRPr lang="en-US" sz="975" dirty="0"/>
          </a:p>
        </p:txBody>
      </p:sp>
      <p:sp>
        <p:nvSpPr>
          <p:cNvPr id="60" name="Text 58"/>
          <p:cNvSpPr/>
          <p:nvPr/>
        </p:nvSpPr>
        <p:spPr>
          <a:xfrm>
            <a:off x="2362141" y="5619750"/>
            <a:ext cx="6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C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位置误差 RMS</a:t>
            </a:r>
            <a:endParaRPr lang="en-US" sz="825" dirty="0"/>
          </a:p>
        </p:txBody>
      </p:sp>
      <p:sp>
        <p:nvSpPr>
          <p:cNvPr id="61" name="Text 59"/>
          <p:cNvSpPr/>
          <p:nvPr/>
        </p:nvSpPr>
        <p:spPr>
          <a:xfrm>
            <a:off x="3581310" y="5619750"/>
            <a:ext cx="907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C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</a:t>
            </a:r>
            <a:endParaRPr lang="en-US" sz="825" dirty="0"/>
          </a:p>
        </p:txBody>
      </p:sp>
      <p:sp>
        <p:nvSpPr>
          <p:cNvPr id="62" name="Text 60"/>
          <p:cNvSpPr/>
          <p:nvPr/>
        </p:nvSpPr>
        <p:spPr>
          <a:xfrm>
            <a:off x="2362141" y="5829300"/>
            <a:ext cx="419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C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最大误差</a:t>
            </a:r>
            <a:endParaRPr lang="en-US" sz="825" dirty="0"/>
          </a:p>
        </p:txBody>
      </p:sp>
      <p:sp>
        <p:nvSpPr>
          <p:cNvPr id="63" name="Text 61"/>
          <p:cNvSpPr/>
          <p:nvPr/>
        </p:nvSpPr>
        <p:spPr>
          <a:xfrm>
            <a:off x="3581310" y="5829300"/>
            <a:ext cx="907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C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</a:t>
            </a:r>
            <a:endParaRPr lang="en-US" sz="825" dirty="0"/>
          </a:p>
        </p:txBody>
      </p:sp>
      <p:sp>
        <p:nvSpPr>
          <p:cNvPr id="64" name="Text 62"/>
          <p:cNvSpPr/>
          <p:nvPr/>
        </p:nvSpPr>
        <p:spPr>
          <a:xfrm>
            <a:off x="2362141" y="6048375"/>
            <a:ext cx="419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C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当前结论</a:t>
            </a:r>
            <a:endParaRPr lang="en-US" sz="825" dirty="0"/>
          </a:p>
        </p:txBody>
      </p:sp>
      <p:sp>
        <p:nvSpPr>
          <p:cNvPr id="65" name="Text 63"/>
          <p:cNvSpPr/>
          <p:nvPr/>
        </p:nvSpPr>
        <p:spPr>
          <a:xfrm>
            <a:off x="3409865" y="6010275"/>
            <a:ext cx="5333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646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未初始化</a:t>
            </a:r>
            <a:endParaRPr lang="en-US" sz="825" dirty="0"/>
          </a:p>
        </p:txBody>
      </p:sp>
      <p:sp>
        <p:nvSpPr>
          <p:cNvPr id="66" name="Text 64"/>
          <p:cNvSpPr/>
          <p:nvPr/>
        </p:nvSpPr>
        <p:spPr>
          <a:xfrm>
            <a:off x="4267093" y="5724525"/>
            <a:ext cx="552436" cy="2827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</a:t>
            </a:r>
            <a:endParaRPr lang="en-US" sz="825" dirty="0"/>
          </a:p>
          <a:p>
            <a:pPr marL="0" indent="0" algn="ctr">
              <a:buNone/>
            </a:pPr>
            <a:r>
              <a:rPr lang="en-US" sz="825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未初始化</a:t>
            </a:r>
            <a:endParaRPr lang="en-US" sz="825" dirty="0"/>
          </a:p>
        </p:txBody>
      </p:sp>
      <p:sp>
        <p:nvSpPr>
          <p:cNvPr id="67" name="Text 65"/>
          <p:cNvSpPr/>
          <p:nvPr/>
        </p:nvSpPr>
        <p:spPr>
          <a:xfrm>
            <a:off x="5105272" y="5657850"/>
            <a:ext cx="5238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C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模型置信度</a:t>
            </a:r>
            <a:endParaRPr lang="en-US" sz="825" dirty="0"/>
          </a:p>
        </p:txBody>
      </p:sp>
      <p:sp>
        <p:nvSpPr>
          <p:cNvPr id="68" name="Text 66"/>
          <p:cNvSpPr/>
          <p:nvPr/>
        </p:nvSpPr>
        <p:spPr>
          <a:xfrm>
            <a:off x="5924402" y="5657850"/>
            <a:ext cx="915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b="1" dirty="0">
                <a:solidFill>
                  <a:srgbClr val="6572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</a:t>
            </a:r>
            <a:endParaRPr lang="en-US" sz="825" dirty="0"/>
          </a:p>
        </p:txBody>
      </p:sp>
      <p:sp>
        <p:nvSpPr>
          <p:cNvPr id="69" name="Text 67"/>
          <p:cNvSpPr/>
          <p:nvPr/>
        </p:nvSpPr>
        <p:spPr>
          <a:xfrm>
            <a:off x="5105272" y="5924550"/>
            <a:ext cx="419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C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当前状态</a:t>
            </a:r>
            <a:endParaRPr lang="en-US" sz="825" dirty="0"/>
          </a:p>
        </p:txBody>
      </p:sp>
      <p:sp>
        <p:nvSpPr>
          <p:cNvPr id="70" name="Text 68"/>
          <p:cNvSpPr/>
          <p:nvPr/>
        </p:nvSpPr>
        <p:spPr>
          <a:xfrm>
            <a:off x="5829154" y="5886450"/>
            <a:ext cx="5333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646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未初始化</a:t>
            </a:r>
            <a:endParaRPr lang="en-US" sz="825" dirty="0"/>
          </a:p>
        </p:txBody>
      </p:sp>
      <p:sp>
        <p:nvSpPr>
          <p:cNvPr id="71" name="Shape 69"/>
          <p:cNvSpPr/>
          <p:nvPr/>
        </p:nvSpPr>
        <p:spPr>
          <a:xfrm>
            <a:off x="6667333" y="542925"/>
            <a:ext cx="5371966" cy="2667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2F2"/>
            </a:solidFill>
            <a:prstDash val="solid"/>
          </a:ln>
          <a:effectLst>
            <a:outerShdw blurRad="1984" dist="794" dir="5400000" algn="bl" rotWithShape="0">
              <a:srgbClr val="1F4D88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6876878" y="723900"/>
            <a:ext cx="171446" cy="171450"/>
          </a:xfrm>
          <a:prstGeom prst="roundRect">
            <a:avLst/>
          </a:prstGeom>
          <a:solidFill>
            <a:srgbClr val="EAF2FF"/>
          </a:solidFill>
          <a:ln w="9525">
            <a:solidFill>
              <a:srgbClr val="B9D1F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24522" y="714375"/>
            <a:ext cx="6095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常用设置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6876878" y="1066800"/>
            <a:ext cx="8191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634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超差阈值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734107" y="1066800"/>
            <a:ext cx="914377" cy="219075"/>
          </a:xfrm>
          <a:prstGeom prst="roundRect">
            <a:avLst/>
          </a:prstGeom>
          <a:solidFill>
            <a:srgbClr val="FBFDFF"/>
          </a:solidFill>
          <a:ln w="9525">
            <a:solidFill>
              <a:srgbClr val="D7E0E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829354" y="1066800"/>
            <a:ext cx="4984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0.300 mm</a:t>
            </a:r>
            <a:endParaRPr lang="en-US" sz="825" dirty="0"/>
          </a:p>
        </p:txBody>
      </p:sp>
      <p:sp>
        <p:nvSpPr>
          <p:cNvPr id="77" name="Text 75"/>
          <p:cNvSpPr/>
          <p:nvPr/>
        </p:nvSpPr>
        <p:spPr>
          <a:xfrm>
            <a:off x="6876878" y="1428750"/>
            <a:ext cx="8191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634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模型路径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734107" y="1428750"/>
            <a:ext cx="4000400" cy="219075"/>
          </a:xfrm>
          <a:prstGeom prst="roundRect">
            <a:avLst/>
          </a:prstGeom>
          <a:solidFill>
            <a:srgbClr val="FBFDFF"/>
          </a:solidFill>
          <a:ln w="9525">
            <a:solidFill>
              <a:srgbClr val="D7E0E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829354" y="1428750"/>
            <a:ext cx="16836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D:\Projects\UR_示例产线\model\...</a:t>
            </a:r>
            <a:endParaRPr lang="en-US" sz="825" dirty="0"/>
          </a:p>
        </p:txBody>
      </p:sp>
      <p:sp>
        <p:nvSpPr>
          <p:cNvPr id="80" name="Text 78"/>
          <p:cNvSpPr/>
          <p:nvPr/>
        </p:nvSpPr>
        <p:spPr>
          <a:xfrm>
            <a:off x="6876878" y="1790700"/>
            <a:ext cx="8191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634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参数文件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734107" y="1790700"/>
            <a:ext cx="4000400" cy="219075"/>
          </a:xfrm>
          <a:prstGeom prst="roundRect">
            <a:avLst/>
          </a:prstGeom>
          <a:solidFill>
            <a:srgbClr val="FBFDFF"/>
          </a:solidFill>
          <a:ln w="9525">
            <a:solidFill>
              <a:srgbClr val="D7E0E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829354" y="1790700"/>
            <a:ext cx="25164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D:\Projects\UR_示例产线\config\calib_params.yaml</a:t>
            </a:r>
            <a:endParaRPr lang="en-US" sz="825" dirty="0"/>
          </a:p>
        </p:txBody>
      </p:sp>
      <p:sp>
        <p:nvSpPr>
          <p:cNvPr id="83" name="Text 81"/>
          <p:cNvSpPr/>
          <p:nvPr/>
        </p:nvSpPr>
        <p:spPr>
          <a:xfrm>
            <a:off x="6876878" y="2152650"/>
            <a:ext cx="8191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634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校验协议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7734107" y="2152650"/>
            <a:ext cx="3714657" cy="219075"/>
          </a:xfrm>
          <a:prstGeom prst="roundRect">
            <a:avLst/>
          </a:prstGeom>
          <a:solidFill>
            <a:srgbClr val="FBFDFF"/>
          </a:solidFill>
          <a:ln w="9525">
            <a:solidFill>
              <a:srgbClr val="D7E0EE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829354" y="2152650"/>
            <a:ext cx="11706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默认校验协议集（24点）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11524962" y="2152650"/>
            <a:ext cx="400040" cy="219075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8D0F6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524962" y="2200275"/>
            <a:ext cx="4000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1F6F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</a:t>
            </a:r>
            <a:endParaRPr lang="en-US" sz="825" dirty="0"/>
          </a:p>
        </p:txBody>
      </p:sp>
      <p:sp>
        <p:nvSpPr>
          <p:cNvPr id="88" name="Text 86"/>
          <p:cNvSpPr/>
          <p:nvPr/>
        </p:nvSpPr>
        <p:spPr>
          <a:xfrm>
            <a:off x="6876878" y="2514600"/>
            <a:ext cx="8191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634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扫描点数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7734107" y="2514600"/>
            <a:ext cx="1123922" cy="228600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7E0E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838879" y="2552700"/>
            <a:ext cx="848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B5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200820" y="2552700"/>
            <a:ext cx="1340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101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8619909" y="2552700"/>
            <a:ext cx="1142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B5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6876878" y="2876550"/>
            <a:ext cx="81913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634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启动扫描配置目录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7734107" y="2895600"/>
            <a:ext cx="323842" cy="171450"/>
          </a:xfrm>
          <a:prstGeom prst="roundRect">
            <a:avLst/>
          </a:prstGeom>
          <a:solidFill>
            <a:srgbClr val="CFD8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38779" y="2800350"/>
            <a:ext cx="5029074" cy="285750"/>
          </a:xfrm>
          <a:prstGeom prst="roundRect">
            <a:avLst/>
          </a:prstGeom>
          <a:solidFill>
            <a:srgbClr val="FFF8EF"/>
          </a:solidFill>
          <a:ln w="9525">
            <a:solidFill>
              <a:srgbClr val="FFD19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34027" y="2938463"/>
            <a:ext cx="114297" cy="0"/>
          </a:xfrm>
          <a:prstGeom prst="line">
            <a:avLst/>
          </a:prstGeom>
          <a:solidFill>
            <a:srgbClr val="FFFFFF">
              <a:alpha val="0"/>
            </a:srgbClr>
          </a:solidFill>
          <a:ln w="104775">
            <a:solidFill>
              <a:srgbClr val="FF9C1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086423" y="2867025"/>
            <a:ext cx="43337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dirty="0">
                <a:solidFill>
                  <a:srgbClr val="B65B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配置不完整：请加载三维模型与参数文件以完成初始化</a:t>
            </a:r>
            <a:endParaRPr lang="en-US" sz="825" dirty="0"/>
          </a:p>
        </p:txBody>
      </p:sp>
      <p:sp>
        <p:nvSpPr>
          <p:cNvPr id="98" name="Shape 96"/>
          <p:cNvSpPr/>
          <p:nvPr/>
        </p:nvSpPr>
        <p:spPr>
          <a:xfrm>
            <a:off x="6667333" y="3352800"/>
            <a:ext cx="5371966" cy="30765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2F2"/>
            </a:solidFill>
            <a:prstDash val="solid"/>
          </a:ln>
          <a:effectLst>
            <a:outerShdw blurRad="1984" dist="794" dir="5400000" algn="bl" rotWithShape="0">
              <a:srgbClr val="1F4D88">
                <a:alpha val="8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6857829" y="3524250"/>
            <a:ext cx="761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初始化指南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991375" y="3524250"/>
            <a:ext cx="9525" cy="2724150"/>
          </a:xfrm>
          <a:prstGeom prst="rect">
            <a:avLst/>
          </a:prstGeom>
          <a:solidFill>
            <a:srgbClr val="E6ED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10225" y="4000500"/>
            <a:ext cx="9525" cy="1790700"/>
          </a:xfrm>
          <a:prstGeom prst="rect">
            <a:avLst/>
          </a:prstGeom>
          <a:solidFill>
            <a:srgbClr val="B9D0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876878" y="3962400"/>
            <a:ext cx="228594" cy="228600"/>
          </a:xfrm>
          <a:prstGeom prst="ellipse">
            <a:avLst/>
          </a:prstGeom>
          <a:solidFill>
            <a:srgbClr val="EDF5FF"/>
          </a:solidFill>
          <a:ln w="9525">
            <a:solidFill>
              <a:srgbClr val="3783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876878" y="4514850"/>
            <a:ext cx="228594" cy="228600"/>
          </a:xfrm>
          <a:prstGeom prst="ellipse">
            <a:avLst/>
          </a:prstGeom>
          <a:solidFill>
            <a:srgbClr val="EDF5FF"/>
          </a:solidFill>
          <a:ln w="9525">
            <a:solidFill>
              <a:srgbClr val="3783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876878" y="5067300"/>
            <a:ext cx="228594" cy="228600"/>
          </a:xfrm>
          <a:prstGeom prst="ellipse">
            <a:avLst/>
          </a:prstGeom>
          <a:solidFill>
            <a:srgbClr val="EDF5FF"/>
          </a:solidFill>
          <a:ln w="9525">
            <a:solidFill>
              <a:srgbClr val="3783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876878" y="5619750"/>
            <a:ext cx="228594" cy="228600"/>
          </a:xfrm>
          <a:prstGeom prst="ellipse">
            <a:avLst/>
          </a:prstGeom>
          <a:solidFill>
            <a:srgbClr val="EDF5FF"/>
          </a:solidFill>
          <a:ln w="9525">
            <a:solidFill>
              <a:srgbClr val="3783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876878" y="3962400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06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6876878" y="4514850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06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6876878" y="5067300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06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876878" y="5619750"/>
            <a:ext cx="2285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06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7257869" y="3962400"/>
            <a:ext cx="6857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7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加载三维模型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7257869" y="4152900"/>
            <a:ext cx="12758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5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选择机器人URDF或Xacro文件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7257869" y="4514850"/>
            <a:ext cx="6857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7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加载误差参数</a:t>
            </a:r>
            <a:endParaRPr lang="en-US" sz="900" dirty="0"/>
          </a:p>
        </p:txBody>
      </p:sp>
      <p:sp>
        <p:nvSpPr>
          <p:cNvPr id="113" name="Text 111"/>
          <p:cNvSpPr/>
          <p:nvPr/>
        </p:nvSpPr>
        <p:spPr>
          <a:xfrm>
            <a:off x="7257869" y="4705350"/>
            <a:ext cx="9524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5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导入标定误差参数文件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7257869" y="5067300"/>
            <a:ext cx="6857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7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导入标定数据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7257869" y="5257800"/>
            <a:ext cx="9932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5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导入测量/标定数据文件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7257869" y="5619750"/>
            <a:ext cx="4571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7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开始分析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7257869" y="5810250"/>
            <a:ext cx="11429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5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初始化完成，开始精度分析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9219969" y="3524250"/>
            <a:ext cx="6095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最近项目</a:t>
            </a:r>
            <a:endParaRPr lang="en-US" sz="1200" dirty="0"/>
          </a:p>
        </p:txBody>
      </p:sp>
      <p:sp>
        <p:nvSpPr>
          <p:cNvPr id="119" name="Shape 117"/>
          <p:cNvSpPr/>
          <p:nvPr/>
        </p:nvSpPr>
        <p:spPr>
          <a:xfrm>
            <a:off x="10972526" y="3486150"/>
            <a:ext cx="876278" cy="238125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FE0F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029674" y="3543300"/>
            <a:ext cx="628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b="1" dirty="0">
                <a:solidFill>
                  <a:srgbClr val="1E75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查看全部记录</a:t>
            </a:r>
            <a:endParaRPr lang="en-US" sz="825" dirty="0"/>
          </a:p>
        </p:txBody>
      </p:sp>
      <p:sp>
        <p:nvSpPr>
          <p:cNvPr id="121" name="Shape 119"/>
          <p:cNvSpPr/>
          <p:nvPr/>
        </p:nvSpPr>
        <p:spPr>
          <a:xfrm>
            <a:off x="9219969" y="3943350"/>
            <a:ext cx="342891" cy="342900"/>
          </a:xfrm>
          <a:prstGeom prst="roundRect">
            <a:avLst/>
          </a:prstGeom>
          <a:solidFill>
            <a:srgbClr val="EEF5FF"/>
          </a:solidFill>
          <a:ln w="9525">
            <a:solidFill>
              <a:srgbClr val="D6E5FB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658109" y="3943350"/>
            <a:ext cx="15239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dirty="0">
                <a:solidFill>
                  <a:srgbClr val="2334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UR_示例产线_20240516</a:t>
            </a:r>
            <a:endParaRPr lang="en-US" sz="825" dirty="0"/>
          </a:p>
        </p:txBody>
      </p:sp>
      <p:sp>
        <p:nvSpPr>
          <p:cNvPr id="123" name="Text 121"/>
          <p:cNvSpPr/>
          <p:nvPr/>
        </p:nvSpPr>
        <p:spPr>
          <a:xfrm>
            <a:off x="9658109" y="4105275"/>
            <a:ext cx="161921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677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D:\Projects\UR_示例产线\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6677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更新：2024-05-16 14:28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11401140" y="4000500"/>
            <a:ext cx="428614" cy="219075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D8FB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1401140" y="4048125"/>
            <a:ext cx="4286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1D6F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825" dirty="0"/>
          </a:p>
        </p:txBody>
      </p:sp>
      <p:sp>
        <p:nvSpPr>
          <p:cNvPr id="126" name="Shape 124"/>
          <p:cNvSpPr/>
          <p:nvPr/>
        </p:nvSpPr>
        <p:spPr>
          <a:xfrm>
            <a:off x="9219969" y="4448175"/>
            <a:ext cx="342891" cy="342900"/>
          </a:xfrm>
          <a:prstGeom prst="roundRect">
            <a:avLst/>
          </a:prstGeom>
          <a:solidFill>
            <a:srgbClr val="EEF5FF"/>
          </a:solidFill>
          <a:ln w="9525">
            <a:solidFill>
              <a:srgbClr val="D6E5FB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658109" y="4448175"/>
            <a:ext cx="15239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dirty="0">
                <a:solidFill>
                  <a:srgbClr val="2334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UR_装配工作站_0321</a:t>
            </a:r>
            <a:endParaRPr lang="en-US" sz="825" dirty="0"/>
          </a:p>
        </p:txBody>
      </p:sp>
      <p:sp>
        <p:nvSpPr>
          <p:cNvPr id="128" name="Text 126"/>
          <p:cNvSpPr/>
          <p:nvPr/>
        </p:nvSpPr>
        <p:spPr>
          <a:xfrm>
            <a:off x="9658109" y="4610100"/>
            <a:ext cx="161921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677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D:\Projects\UR_装配工作站\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6677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更新：2024-03-21 09:46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11401140" y="4505325"/>
            <a:ext cx="428614" cy="219075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D8FB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1401140" y="4552950"/>
            <a:ext cx="4286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1D6F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825" dirty="0"/>
          </a:p>
        </p:txBody>
      </p:sp>
      <p:sp>
        <p:nvSpPr>
          <p:cNvPr id="131" name="Shape 129"/>
          <p:cNvSpPr/>
          <p:nvPr/>
        </p:nvSpPr>
        <p:spPr>
          <a:xfrm>
            <a:off x="9219969" y="4953000"/>
            <a:ext cx="342891" cy="342900"/>
          </a:xfrm>
          <a:prstGeom prst="roundRect">
            <a:avLst/>
          </a:prstGeom>
          <a:solidFill>
            <a:srgbClr val="EEF5FF"/>
          </a:solidFill>
          <a:ln w="9525">
            <a:solidFill>
              <a:srgbClr val="D6E5FB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9658109" y="4953000"/>
            <a:ext cx="15239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dirty="0">
                <a:solidFill>
                  <a:srgbClr val="2334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UR_焊接单元_0220</a:t>
            </a:r>
            <a:endParaRPr lang="en-US" sz="825" dirty="0"/>
          </a:p>
        </p:txBody>
      </p:sp>
      <p:sp>
        <p:nvSpPr>
          <p:cNvPr id="133" name="Text 131"/>
          <p:cNvSpPr/>
          <p:nvPr/>
        </p:nvSpPr>
        <p:spPr>
          <a:xfrm>
            <a:off x="9658109" y="5114925"/>
            <a:ext cx="161921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677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D:\Projects\UR_焊接单元\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6677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更新：2024-02-20 16:11</a:t>
            </a: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11401140" y="5010150"/>
            <a:ext cx="428614" cy="219075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D8F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1401140" y="5057775"/>
            <a:ext cx="4286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1D6F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825" dirty="0"/>
          </a:p>
        </p:txBody>
      </p:sp>
      <p:sp>
        <p:nvSpPr>
          <p:cNvPr id="136" name="Text 134"/>
          <p:cNvSpPr/>
          <p:nvPr/>
        </p:nvSpPr>
        <p:spPr>
          <a:xfrm>
            <a:off x="9219969" y="5543550"/>
            <a:ext cx="6095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11258269" y="5505450"/>
            <a:ext cx="590535" cy="238125"/>
          </a:xfrm>
          <a:prstGeom prst="round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5D9FB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11258269" y="5562600"/>
            <a:ext cx="5905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1D6F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导入模板</a:t>
            </a:r>
            <a:endParaRPr lang="en-US" sz="825" dirty="0"/>
          </a:p>
        </p:txBody>
      </p:sp>
      <p:sp>
        <p:nvSpPr>
          <p:cNvPr id="139" name="Shape 137"/>
          <p:cNvSpPr/>
          <p:nvPr/>
        </p:nvSpPr>
        <p:spPr>
          <a:xfrm>
            <a:off x="9219969" y="5867400"/>
            <a:ext cx="723882" cy="419100"/>
          </a:xfrm>
          <a:prstGeom prst="roundRect">
            <a:avLst/>
          </a:prstGeom>
          <a:solidFill>
            <a:srgbClr val="F9FCFF"/>
          </a:solidFill>
          <a:ln w="9525">
            <a:solidFill>
              <a:srgbClr val="D7E5F8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0096248" y="5867400"/>
            <a:ext cx="723882" cy="419100"/>
          </a:xfrm>
          <a:prstGeom prst="roundRect">
            <a:avLst/>
          </a:prstGeom>
          <a:solidFill>
            <a:srgbClr val="F9FCFF"/>
          </a:solidFill>
          <a:ln w="9525">
            <a:solidFill>
              <a:srgbClr val="D7E5F8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972526" y="5867400"/>
            <a:ext cx="723882" cy="419100"/>
          </a:xfrm>
          <a:prstGeom prst="roundRect">
            <a:avLst/>
          </a:prstGeom>
          <a:solidFill>
            <a:srgbClr val="F9FCFF"/>
          </a:solidFill>
          <a:ln w="9525">
            <a:solidFill>
              <a:srgbClr val="D7E5F8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239019" y="5943600"/>
            <a:ext cx="6857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UR 通用模板</a:t>
            </a:r>
            <a:endParaRPr lang="en-US" sz="800" dirty="0"/>
          </a:p>
        </p:txBody>
      </p:sp>
      <p:sp>
        <p:nvSpPr>
          <p:cNvPr id="143" name="Text 141"/>
          <p:cNvSpPr/>
          <p:nvPr/>
        </p:nvSpPr>
        <p:spPr>
          <a:xfrm>
            <a:off x="10115297" y="5943600"/>
            <a:ext cx="6857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装配应用模板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10991575" y="5943600"/>
            <a:ext cx="6857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焊接应用模板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9239019" y="6115050"/>
            <a:ext cx="6857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7080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24点校验协议</a:t>
            </a:r>
            <a:endParaRPr lang="en-US" sz="800" dirty="0"/>
          </a:p>
        </p:txBody>
      </p:sp>
      <p:sp>
        <p:nvSpPr>
          <p:cNvPr id="146" name="Text 144"/>
          <p:cNvSpPr/>
          <p:nvPr/>
        </p:nvSpPr>
        <p:spPr>
          <a:xfrm>
            <a:off x="10115297" y="6115050"/>
            <a:ext cx="6857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7080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定点+轨迹校验</a:t>
            </a:r>
            <a:endParaRPr lang="en-US" sz="800" dirty="0"/>
          </a:p>
        </p:txBody>
      </p:sp>
      <p:sp>
        <p:nvSpPr>
          <p:cNvPr id="147" name="Text 145"/>
          <p:cNvSpPr/>
          <p:nvPr/>
        </p:nvSpPr>
        <p:spPr>
          <a:xfrm>
            <a:off x="10991575" y="6115050"/>
            <a:ext cx="6857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7080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焊缝轨迹校验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0" y="6562725"/>
            <a:ext cx="12191695" cy="295275"/>
          </a:xfrm>
          <a:prstGeom prst="rect">
            <a:avLst/>
          </a:prstGeom>
          <a:solidFill>
            <a:srgbClr val="F8FB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0" y="6567487"/>
            <a:ext cx="12191695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DCE6F3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28594" y="6642100"/>
            <a:ext cx="6866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4655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机器人：UR5e</a:t>
            </a:r>
            <a:endParaRPr lang="en-US" sz="825" dirty="0"/>
          </a:p>
        </p:txBody>
      </p:sp>
      <p:sp>
        <p:nvSpPr>
          <p:cNvPr id="151" name="Text 149"/>
          <p:cNvSpPr/>
          <p:nvPr/>
        </p:nvSpPr>
        <p:spPr>
          <a:xfrm>
            <a:off x="1257269" y="6642100"/>
            <a:ext cx="6164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4655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控制器：CB3</a:t>
            </a:r>
            <a:endParaRPr lang="en-US" sz="825" dirty="0"/>
          </a:p>
        </p:txBody>
      </p:sp>
      <p:sp>
        <p:nvSpPr>
          <p:cNvPr id="152" name="Text 150"/>
          <p:cNvSpPr/>
          <p:nvPr/>
        </p:nvSpPr>
        <p:spPr>
          <a:xfrm>
            <a:off x="2419290" y="6642100"/>
            <a:ext cx="810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4655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仿真频率：60 Hz</a:t>
            </a:r>
            <a:endParaRPr lang="en-US" sz="825" dirty="0"/>
          </a:p>
        </p:txBody>
      </p:sp>
      <p:sp>
        <p:nvSpPr>
          <p:cNvPr id="153" name="Text 151"/>
          <p:cNvSpPr/>
          <p:nvPr/>
        </p:nvSpPr>
        <p:spPr>
          <a:xfrm>
            <a:off x="3752756" y="6642100"/>
            <a:ext cx="824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4655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数字孪生时间：--</a:t>
            </a:r>
            <a:endParaRPr lang="en-US" sz="825" dirty="0"/>
          </a:p>
        </p:txBody>
      </p:sp>
      <p:sp>
        <p:nvSpPr>
          <p:cNvPr id="154" name="Text 152"/>
          <p:cNvSpPr/>
          <p:nvPr/>
        </p:nvSpPr>
        <p:spPr>
          <a:xfrm>
            <a:off x="5219570" y="6642100"/>
            <a:ext cx="8381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4655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坐标系：基坐标系</a:t>
            </a:r>
            <a:endParaRPr lang="en-US" sz="825" dirty="0"/>
          </a:p>
        </p:txBody>
      </p:sp>
      <p:sp>
        <p:nvSpPr>
          <p:cNvPr id="155" name="Text 153"/>
          <p:cNvSpPr/>
          <p:nvPr/>
        </p:nvSpPr>
        <p:spPr>
          <a:xfrm>
            <a:off x="10429614" y="6642100"/>
            <a:ext cx="2095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4655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</a:t>
            </a:r>
            <a:endParaRPr lang="en-US" sz="825" dirty="0"/>
          </a:p>
        </p:txBody>
      </p:sp>
      <p:sp>
        <p:nvSpPr>
          <p:cNvPr id="156" name="Text 154"/>
          <p:cNvSpPr/>
          <p:nvPr/>
        </p:nvSpPr>
        <p:spPr>
          <a:xfrm>
            <a:off x="11239219" y="6642100"/>
            <a:ext cx="3143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4655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无告警</a:t>
            </a:r>
            <a:endParaRPr lang="en-US" sz="825" dirty="0"/>
          </a:p>
        </p:txBody>
      </p:sp>
    </p:spTree>
    <p:extLst>
      <p:ext uri="{BB962C8B-B14F-4D97-AF65-F5344CB8AC3E}">
        <p14:creationId xmlns:p14="http://schemas.microsoft.com/office/powerpoint/2010/main" val="2849631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图片 157">
            <a:extLst>
              <a:ext uri="{FF2B5EF4-FFF2-40B4-BE49-F238E27FC236}">
                <a16:creationId xmlns:a16="http://schemas.microsoft.com/office/drawing/2014/main" id="{6F4C00DF-1811-E6F3-F6B2-CC2126768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516"/>
            <a:ext cx="12192000" cy="656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518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6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FDE4DB5-0F0E-43A8-80DD-CEF98A18A0C8}">
  <we:reference id="wa200010215" version="2.0.0.0" store="zh-CN" storeType="OMEX"/>
  <we:alternateReferences>
    <we:reference id="wa200010215" version="2.0.0.0" store="WA20001021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605</TotalTime>
  <Words>203</Words>
  <Application>Microsoft Office PowerPoint</Application>
  <PresentationFormat>宽屏</PresentationFormat>
  <Paragraphs>95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Microsoft YaHei</vt:lpstr>
      <vt:lpstr>Arial</vt:lpstr>
      <vt:lpstr>Office 主题​​</vt:lpstr>
      <vt:lpstr>Office Theme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广辉 申</dc:creator>
  <cp:lastModifiedBy>广辉 申</cp:lastModifiedBy>
  <cp:revision>2</cp:revision>
  <dcterms:created xsi:type="dcterms:W3CDTF">2026-05-28T01:41:42Z</dcterms:created>
  <dcterms:modified xsi:type="dcterms:W3CDTF">2026-05-28T13:50:38Z</dcterms:modified>
</cp:coreProperties>
</file>